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9" d="100"/>
          <a:sy n="89" d="100"/>
        </p:scale>
        <p:origin x="61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E25A42-523B-ACA8-B9EB-5B0611A58E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DB96F2A-CAEE-B6F7-2AA3-AA1EF8700A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429F3D-B4E7-666C-E3DA-B6DC28BBA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C018-DDAC-4408-8BB5-07CFEB40FC31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67CD9A-C5E1-44DB-D97C-8FD850F38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8DE0A7-F917-C783-0D33-D435F5DF9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CC8E3-DF30-4584-9FAF-5CA81D9F08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3648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A65F4B-42D7-842A-F59E-590942E13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4DEDC1-C1B2-A38E-DD10-23E589277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4BD9E5-AA8B-1D5E-3FDB-828ABC2F8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C018-DDAC-4408-8BB5-07CFEB40FC31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488620-A402-775D-76CC-56D2B5BC6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56C58C-A678-6EEB-8525-2A1C67ED0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CC8E3-DF30-4584-9FAF-5CA81D9F08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8659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93305F-5F58-13F3-9839-2993A9D5D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AB81C80-72DB-7453-FCB8-D35D6B805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9DCD304-AFE7-4C7B-7691-790465DEF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C018-DDAC-4408-8BB5-07CFEB40FC31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22A250-A9EF-6ADD-6A1D-9E02C6F4D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7BD71C-8B48-081F-B0A3-39F61D6D2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CC8E3-DF30-4584-9FAF-5CA81D9F08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3842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B04B65-3BA9-012D-0C57-5105C3B90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1C882E-E5AA-DADD-5979-341215DB6A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23ADB48-A5CA-A180-9CC6-FB4219F852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FFD6DC-B124-DE9D-887C-DE59C418F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C018-DDAC-4408-8BB5-07CFEB40FC31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4838BC0-5122-5DA8-45BC-0A90D2A09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9E12ED0-3D88-93EA-87AF-6B9387169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CC8E3-DF30-4584-9FAF-5CA81D9F08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0990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97EF24-5298-33A8-5DBC-5A0574569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DABC196-F62C-CAFE-3D95-A1534F935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19E559A-3481-C1A0-4551-3F193E990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F8821F1-9922-4173-762D-37527354B4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F537CF9-943C-7621-1DE9-E67ADA397F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EAA9F39-7533-DEFE-EFB4-491C96F05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C018-DDAC-4408-8BB5-07CFEB40FC31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68FA0AF-3CED-954B-D175-8370F8375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60EFF2C-5B4A-2B1F-818B-5AD6209C2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CC8E3-DF30-4584-9FAF-5CA81D9F08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4521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6BE47C-A3D5-BB80-335F-5D69BDC8E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B30B2EE-8D23-2CD9-3FBC-A44F53735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C018-DDAC-4408-8BB5-07CFEB40FC31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B9CA1F9-BC79-FCEB-DD1A-4C0D30C85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839CCB4-2B54-0D60-B7F5-DA82B962A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CC8E3-DF30-4584-9FAF-5CA81D9F08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1443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5977C15-DBC4-0050-CE4F-C02E95404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C018-DDAC-4408-8BB5-07CFEB40FC31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9A8DFB1-F4B9-7C06-44D0-BBDF57C2A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2FAC400-F4A4-036B-EC93-B8E8A44ED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CC8E3-DF30-4584-9FAF-5CA81D9F08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3722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010FEB-1B7D-8270-7861-F730E43CE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52F2FA-A6C0-AEEE-BD81-3675F8053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BDF7985-682B-0C52-BBBF-588854ADBA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1C413DD-3B4C-5F35-AA24-B147057D0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C018-DDAC-4408-8BB5-07CFEB40FC31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B396327-E4C1-21FC-A851-1A69A65EB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20FC413-CAC7-5F6A-0A9D-E5B53E84F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CC8E3-DF30-4584-9FAF-5CA81D9F08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6722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EFE706-1826-F4EB-EFB7-02A3846BE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ED5D10B-2566-6121-00C4-631290EC99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451A118-047E-893F-3E5E-B81C9E5A54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1414193-8978-1007-7D1C-064C67D09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C018-DDAC-4408-8BB5-07CFEB40FC31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FAC4DFD-3803-8B16-C2AC-B75F6E3D1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D94DD2-FCB5-A967-3897-088E975DD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CC8E3-DF30-4584-9FAF-5CA81D9F08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2400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9FE192-6C14-C6A4-A5BD-F5E48E806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ADEE317-439F-FA05-EBE5-C927F2113E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A999B9-D8A0-D268-3FAA-8E4CA6778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C018-DDAC-4408-8BB5-07CFEB40FC31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BC0B58-589A-9B1B-76A5-1029FFE4B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1D77F12-6C9A-BCC4-DE65-628B0CBE6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CC8E3-DF30-4584-9FAF-5CA81D9F08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0521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C6334EF-4DEF-2EF2-1EE9-405D5BBE6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8B8FF45-1D85-AA6E-6A4F-08A09FB07D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B34DFB-D4EC-B13E-DF0A-1994A4A57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C018-DDAC-4408-8BB5-07CFEB40FC31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ED7CD9-9F77-7D52-D684-3F5D5EEFC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601425-3922-B689-56AF-7928DC148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CC8E3-DF30-4584-9FAF-5CA81D9F08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4040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98C5F83-8A34-0297-0045-ED5D58501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8DEF21-2722-F1DF-29EB-4F1B712DC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97CE9F-CCFB-6FE4-DCA3-EF6C122C84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BCC018-DDAC-4408-8BB5-07CFEB40FC31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F5480A-154E-CAFA-F634-72CB83EA5F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32766B-81D4-165F-23D4-07C5D8C755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7CC8E3-DF30-4584-9FAF-5CA81D9F08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745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questionpro.com/blog/pt-br/dados-primarios/" TargetMode="External"/><Relationship Id="rId2" Type="http://schemas.openxmlformats.org/officeDocument/2006/relationships/hyperlink" Target="https://www.questionpro.com/blog/pt-br/coleta-de-dados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25A31E-2314-F353-206C-AD1D8B7FD0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>
                <a:solidFill>
                  <a:srgbClr val="C00000"/>
                </a:solidFill>
              </a:rPr>
              <a:t>Análise e Projeto de Sistemas</a:t>
            </a:r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4DCD43BD-E859-3894-9C49-5707BFF01B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Nomes dos Alunos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87ADFE3-1247-20F0-3329-43AF84BBD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1809" y="249058"/>
            <a:ext cx="3858163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517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1EE981-9835-6ED6-DBD4-85C9B63F2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Etapa de desenvolvimento de software: Fase de diagnóstico – </a:t>
            </a:r>
            <a:r>
              <a:rPr lang="pt-BR" b="1" dirty="0">
                <a:solidFill>
                  <a:srgbClr val="C00000"/>
                </a:solidFill>
              </a:rPr>
              <a:t>O que é feito nesta fase?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371E1D-0F2D-382B-1566-9D4D2EA8A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fontAlgn="base"/>
            <a:r>
              <a:rPr lang="pt-BR" sz="9600" dirty="0"/>
              <a:t>Nesta fase o time de desenvolvimento (ou o time comercial, no caso de muitas empresas) é responsável por conhecer o cliente a fundo.</a:t>
            </a:r>
            <a:br>
              <a:rPr lang="pt-BR" sz="9600" dirty="0"/>
            </a:br>
            <a:r>
              <a:rPr lang="pt-BR" sz="9600" dirty="0"/>
              <a:t>    Dessa forma, é essencial que o problema seja extremamente detalhado e explicado para que o software atenda todas as necessidades.</a:t>
            </a:r>
            <a:br>
              <a:rPr lang="pt-BR" sz="9600" dirty="0"/>
            </a:br>
            <a:r>
              <a:rPr lang="pt-BR" sz="9600" dirty="0"/>
              <a:t>    Além disso, quanto mais claro e nítidos estiverem as exigência do problema, mais completa e relevante será a solução.</a:t>
            </a:r>
            <a:br>
              <a:rPr lang="pt-BR" sz="9600" dirty="0"/>
            </a:br>
            <a:r>
              <a:rPr lang="pt-BR" sz="9600" dirty="0"/>
              <a:t>Então diversas informações são importantes, como por exemplo:</a:t>
            </a:r>
          </a:p>
          <a:p>
            <a:pPr fontAlgn="base"/>
            <a:r>
              <a:rPr lang="pt-BR" sz="7400" b="1" dirty="0"/>
              <a:t> Origem do problema</a:t>
            </a:r>
          </a:p>
          <a:p>
            <a:pPr fontAlgn="base"/>
            <a:r>
              <a:rPr lang="pt-BR" sz="7400" b="1" dirty="0"/>
              <a:t>Particularidades da situação atual do problema</a:t>
            </a:r>
          </a:p>
          <a:p>
            <a:pPr fontAlgn="base"/>
            <a:r>
              <a:rPr lang="pt-BR" sz="7400" b="1" dirty="0"/>
              <a:t>Prazo estipulado para a solução deste problema</a:t>
            </a:r>
          </a:p>
          <a:p>
            <a:pPr fontAlgn="base"/>
            <a:r>
              <a:rPr lang="pt-BR" sz="7400" b="1" dirty="0"/>
              <a:t>Exigência geradas por este problema</a:t>
            </a:r>
          </a:p>
          <a:p>
            <a:pPr fontAlgn="base"/>
            <a:r>
              <a:rPr lang="pt-BR" sz="7400" b="1" dirty="0"/>
              <a:t>Abrangência deste problema</a:t>
            </a:r>
          </a:p>
          <a:p>
            <a:pPr fontAlgn="base"/>
            <a:r>
              <a:rPr lang="pt-BR" sz="7400" b="1" dirty="0"/>
              <a:t>Disponibilidade de orçamento para investimento em soluções</a:t>
            </a:r>
          </a:p>
          <a:p>
            <a:pPr fontAlgn="base"/>
            <a:r>
              <a:rPr lang="pt-BR" sz="7400" b="1" dirty="0"/>
              <a:t>Urgência de uma solução para este problema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9823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1EE981-9835-6ED6-DBD4-85C9B63F2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Fase de diagnóstico – </a:t>
            </a:r>
            <a:r>
              <a:rPr lang="pt-BR" b="1" dirty="0">
                <a:solidFill>
                  <a:srgbClr val="C00000"/>
                </a:solidFill>
              </a:rPr>
              <a:t>O que acontece após esta fase?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371E1D-0F2D-382B-1566-9D4D2EA8A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593" y="1690688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pt-BR" dirty="0"/>
              <a:t>O processo de diagnóstico de sistemas envolve diversas etapas, que podem variar de acordo com a complexidade do sistema em questão. No entanto, de maneira geral, o processo pode ser dividido em quatro etapas principais: coleta de informações, análise dos dados, identificação do problema e implementação da solução.</a:t>
            </a:r>
          </a:p>
          <a:p>
            <a:pPr marL="0" indent="0">
              <a:buNone/>
            </a:pPr>
            <a:r>
              <a:rPr lang="pt-BR" dirty="0"/>
              <a:t>      Caso o cliente já tenha uma solução bem definida e arquitetada, a próxima etapa é a de levantamento e análise de requisitos. Porém, muitas vezes o cliente traz somente uma ideia inicial do problema que quer resolver, tendo poucas certezas e dados quanto sua solução. Assim, para evitar erros, problemas e frustrações futuras, é necessário realizar a etapa de concepção da solução </a:t>
            </a: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01916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1EE981-9835-6ED6-DBD4-85C9B63F2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Etapa de desenvolvimento de software: Concepção - </a:t>
            </a:r>
            <a:r>
              <a:rPr lang="pt-BR" b="1" dirty="0">
                <a:solidFill>
                  <a:srgbClr val="C00000"/>
                </a:solidFill>
              </a:rPr>
              <a:t>Como realizar a imersão?</a:t>
            </a:r>
            <a:r>
              <a:rPr lang="pt-BR" b="1" dirty="0"/>
              <a:t> 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CD6F050-D101-4353-9D48-334D82646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Após o diagnóstico do problema ou produto com o cliente, inicia-se o processo de concepção. O objetivo é criar uma solução para o problema ou validar o design proposto, com a participação de usuários e desenvolvedores, ajustando-o conforme necessário. Nessa fase, são aplicadas as etapas do Design </a:t>
            </a:r>
            <a:r>
              <a:rPr lang="pt-BR" dirty="0" err="1"/>
              <a:t>Thinking</a:t>
            </a:r>
            <a:r>
              <a:rPr lang="pt-BR" dirty="0"/>
              <a:t>: imersão, definição, ideação e prototipação. Também é essencial que os desenvolvedores selecionem e testem as tecnologias que serão usadas no desenvolvimento, registrando-as em um documento técnico.</a:t>
            </a:r>
          </a:p>
        </p:txBody>
      </p:sp>
    </p:spTree>
    <p:extLst>
      <p:ext uri="{BB962C8B-B14F-4D97-AF65-F5344CB8AC3E}">
        <p14:creationId xmlns:p14="http://schemas.microsoft.com/office/powerpoint/2010/main" val="2141901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1EE981-9835-6ED6-DBD4-85C9B63F21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06108"/>
            <a:ext cx="9144000" cy="2387600"/>
          </a:xfrm>
        </p:spPr>
        <p:txBody>
          <a:bodyPr/>
          <a:lstStyle/>
          <a:p>
            <a:r>
              <a:rPr lang="pt-BR" b="1" dirty="0"/>
              <a:t>Técnicas de Levantamento</a:t>
            </a:r>
            <a:br>
              <a:rPr lang="pt-BR" b="1" dirty="0"/>
            </a:b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4236106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1EE981-9835-6ED6-DBD4-85C9B63F2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Entrevista – </a:t>
            </a:r>
            <a:r>
              <a:rPr lang="pt-BR" b="1" dirty="0">
                <a:solidFill>
                  <a:srgbClr val="C00000"/>
                </a:solidFill>
              </a:rPr>
              <a:t>Exemplifique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D11CFE-02A1-4A8B-0EB1-4305041F0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É um método de </a:t>
            </a:r>
            <a:r>
              <a:rPr lang="pt-BR" dirty="0">
                <a:hlinkClick r:id="rId2"/>
              </a:rPr>
              <a:t>coleta de dados</a:t>
            </a:r>
            <a:r>
              <a:rPr lang="pt-BR" dirty="0"/>
              <a:t> primários que envolve questionar uma ou mais pessoas sobre uma empresa, produto ou tema específico.</a:t>
            </a:r>
          </a:p>
          <a:p>
            <a:pPr marL="0" indent="0">
              <a:buNone/>
            </a:pPr>
            <a:r>
              <a:rPr lang="pt-BR" dirty="0"/>
              <a:t>   As entrevistas são predominantemente qualitativas, focando-se na experiência pessoal dos participantes. O principal objetivo das entrevistas é compreender os comportamentos, atitudes e opiniões das pessoas.</a:t>
            </a:r>
          </a:p>
          <a:p>
            <a:pPr marL="0" indent="0">
              <a:buNone/>
            </a:pPr>
            <a:r>
              <a:rPr lang="pt-BR" dirty="0"/>
              <a:t>	Comparativamente a outros tipos de pesquisa primária, as entrevistas geralmente possuem uma taxa de resposta mais elevada e tendem a fornecer resultados mais confiáveis.</a:t>
            </a:r>
          </a:p>
          <a:p>
            <a:pPr marL="0" indent="0">
              <a:buNone/>
            </a:pPr>
            <a:r>
              <a:rPr lang="pt-BR" dirty="0"/>
              <a:t>	Alguns dos principais objetivos da realização de entrevistas incluem a obtenção de</a:t>
            </a:r>
            <a:r>
              <a:rPr lang="pt-BR" dirty="0">
                <a:hlinkClick r:id="rId3"/>
              </a:rPr>
              <a:t> dados primários </a:t>
            </a:r>
            <a:r>
              <a:rPr lang="pt-BR" dirty="0"/>
              <a:t>e a identificação de padrões e tendências entre os entrevistados.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09057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1EE981-9835-6ED6-DBD4-85C9B63F2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Seleção de documentos - </a:t>
            </a:r>
            <a:r>
              <a:rPr lang="pt-BR" b="1" dirty="0">
                <a:solidFill>
                  <a:srgbClr val="C00000"/>
                </a:solidFill>
              </a:rPr>
              <a:t>Exemplifique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9703F0-4CF3-C54D-9833-16EFBE1A0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Técnica importante quando um processo já existente for implementado pelo sistema. Os documentos usados no processo atual podem ser físicos ou digitais e, normalmente, contém informações essenciais a serem analisadas e tratadas no sistema a ser desenvolvido. O contato com os documentos usados no processo atual pode ajudar um analista a melhorar sua visão sobre as necessidades dos usuários, tanto em relação às funcionalidades quanto aos dados envolvidos e que deverão ser mantidos em um banco de dados. </a:t>
            </a: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2973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1EE981-9835-6ED6-DBD4-85C9B63F2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Questionário - </a:t>
            </a:r>
            <a:r>
              <a:rPr lang="pt-BR" b="1" dirty="0">
                <a:solidFill>
                  <a:srgbClr val="C00000"/>
                </a:solidFill>
              </a:rPr>
              <a:t>Exemplifique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452A11-10F8-2B9F-1841-55B1EA022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Nessa técnica são elaboradas questões para que os usuários envolvidos respondam. As perguntas não precisam ser, necessariamente, voltadas apenas à identificação das funcionalidades requeridas pelo sistema que será desenvolvido, mas podem abordar também a experiência do usuário em sistemas semelhantes, os equipamentos que eles utilizam, entre outras. Por outro lado, o foco das questões deve estar concentrado no levantamento de requisitos, ou seja, nas necessidades do sistema. A técnica do questionário é mais indicada quando existe uma quantidade elevada de usuários, imagine ter que fazer uma entrevista com dezenas de usuários. </a:t>
            </a: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15319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1EE981-9835-6ED6-DBD4-85C9B63F2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Brainstorm - </a:t>
            </a:r>
            <a:r>
              <a:rPr lang="pt-BR" b="1" dirty="0">
                <a:solidFill>
                  <a:srgbClr val="FF0000"/>
                </a:solidFill>
              </a:rPr>
              <a:t>Exemplifique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67A9C8-BE8B-23C1-B0DD-7FF926F68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 Conhecido popularmente como “toró de palpite”, tem como característica principal proporcionar um ambiente onde todos os interessados pelo sistema podem apresentar suas sugestões. Pode ser feito fisicamente ou remotamente, o mais importante é criar um clima amigável de colaboração em que ocorra uma verdadeira “chuva de ideias”. Nessa técnica, normalmente uma pessoa da equipe lidera discussões e anota as sugestões para análise futura. Com certeza o grande ponto forte dessa técnica é a participação dos envolvidos no sistema, sejam gerentes, diretores, usuários comuns, clientes, fornecedores etc. </a:t>
            </a: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26787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1EE981-9835-6ED6-DBD4-85C9B63F2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Prototipação - </a:t>
            </a:r>
            <a:r>
              <a:rPr lang="pt-BR" b="1" dirty="0">
                <a:solidFill>
                  <a:srgbClr val="C00000"/>
                </a:solidFill>
              </a:rPr>
              <a:t>Exemplifique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71DE5B-EC5A-964F-13CC-7BFE91578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72476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816</Words>
  <Application>Microsoft Office PowerPoint</Application>
  <PresentationFormat>Widescreen</PresentationFormat>
  <Paragraphs>29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do Office</vt:lpstr>
      <vt:lpstr>Análise e Projeto de Sistemas</vt:lpstr>
      <vt:lpstr>Etapa de desenvolvimento de software: Fase de diagnóstico – O que é feito nesta fase?</vt:lpstr>
      <vt:lpstr>Fase de diagnóstico – O que acontece após esta fase? </vt:lpstr>
      <vt:lpstr>Etapa de desenvolvimento de software: Concepção - Como realizar a imersão? </vt:lpstr>
      <vt:lpstr>Técnicas de Levantamento </vt:lpstr>
      <vt:lpstr>Entrevista – Exemplifique</vt:lpstr>
      <vt:lpstr>Seleção de documentos - Exemplifique</vt:lpstr>
      <vt:lpstr>Questionário - Exemplifique</vt:lpstr>
      <vt:lpstr>Brainstorm - Exemplifique</vt:lpstr>
      <vt:lpstr>Prototipação - Exemplifique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e Projeto de Sistemas</dc:title>
  <dc:creator>Andrea Avezum Martus</dc:creator>
  <cp:lastModifiedBy>Micro</cp:lastModifiedBy>
  <cp:revision>7</cp:revision>
  <dcterms:created xsi:type="dcterms:W3CDTF">2025-03-26T22:54:18Z</dcterms:created>
  <dcterms:modified xsi:type="dcterms:W3CDTF">2025-04-07T16:05:27Z</dcterms:modified>
</cp:coreProperties>
</file>