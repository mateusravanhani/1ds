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sldIdLst>
    <p:sldId id="256" r:id="rId5"/>
    <p:sldId id="268" r:id="rId6"/>
    <p:sldId id="267" r:id="rId7"/>
    <p:sldId id="257" r:id="rId8"/>
    <p:sldId id="258" r:id="rId9"/>
    <p:sldId id="259" r:id="rId10"/>
    <p:sldId id="260" r:id="rId11"/>
    <p:sldId id="261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03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3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06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56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97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80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018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95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33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91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7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599A5-F6DA-48C7-83DF-7B1695C4D9B0}" type="datetimeFigureOut">
              <a:rPr lang="pt-BR" smtClean="0"/>
              <a:t>17/03/2025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5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3A72C-E900-D1ED-FF34-CF4221F45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7727"/>
            <a:ext cx="9144000" cy="9122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Modelagem do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02692-0D71-3284-7E44-119D6D59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Análise e Projeto de Sistemas</a:t>
            </a:r>
          </a:p>
          <a:p>
            <a:endParaRPr lang="pt-BR" dirty="0"/>
          </a:p>
          <a:p>
            <a:r>
              <a:rPr lang="pt-BR" b="1" dirty="0">
                <a:latin typeface="Bell MT" panose="02020503060305020303" pitchFamily="18" charset="0"/>
              </a:rPr>
              <a:t>Nome: Felipe Costa, Gabriel Barbosa, Mariana Moraes e Mateus </a:t>
            </a:r>
            <a:r>
              <a:rPr lang="pt-BR" b="1" dirty="0" err="1">
                <a:latin typeface="Bell MT" panose="02020503060305020303" pitchFamily="18" charset="0"/>
              </a:rPr>
              <a:t>Ravanhani</a:t>
            </a:r>
            <a:endParaRPr lang="pt-BR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02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03F0CF8-44EE-470C-8A8A-C14E9FE536A2}"/>
              </a:ext>
            </a:extLst>
          </p:cNvPr>
          <p:cNvSpPr txBox="1"/>
          <p:nvPr/>
        </p:nvSpPr>
        <p:spPr>
          <a:xfrm>
            <a:off x="528976" y="-1113417"/>
            <a:ext cx="1020093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r>
              <a:rPr lang="pt-BR" sz="4000" b="1" dirty="0"/>
              <a:t>Resumindo a Modelagem é...</a:t>
            </a:r>
            <a:r>
              <a:rPr lang="pt-BR" sz="2000" b="1" dirty="0"/>
              <a:t> </a:t>
            </a:r>
          </a:p>
          <a:p>
            <a:r>
              <a:rPr lang="pt-BR" sz="2000" b="1" dirty="0"/>
              <a:t> 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023206D-FE07-4F3D-B4AE-7F9A77460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1" y="1725231"/>
            <a:ext cx="12192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15D123-859C-4647-A982-00B293B63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76" y="1806908"/>
            <a:ext cx="917705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Modelagem é o processo de criar representações simplificadas ou abstratas de sistemas, fenômenos ou objetos do mundo real com o objetivo de analisar, entender ou prever seu comportamento. Ela pode ser aplicada em diversas áreas, como matemática, computação, engenharia, negócios e design. Através da modelagem, é possível estudar a dinâmica de sistemas complexos, realizar simulações e tomar decisões mais informadas. Em resumo, modelagem busca criar uma versão reduzida e mais fácil de analisar de algo complexo, facilitando o estudo e a tomada de decisões.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83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3A72C-E900-D1ED-FF34-CF4221F45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58646"/>
            <a:ext cx="9222889" cy="225131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o Ciclo de Vida de Desenvolvimento de Software - CVDS 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02692-0D71-3284-7E44-119D6D596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09964"/>
            <a:ext cx="9222889" cy="1747835"/>
          </a:xfrm>
        </p:spPr>
        <p:txBody>
          <a:bodyPr/>
          <a:lstStyle/>
          <a:p>
            <a:r>
              <a:rPr lang="pt-BR" dirty="0"/>
              <a:t>Análise e Projeto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8455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58EEC-0077-A87D-50F6-AB5C8C42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Segunda a norma NBR ISO/IEC 12207:1998 a definição oficial é :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72FA7D-45A7-9DBA-B469-41EDF0E57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endParaRPr lang="pt-BR" sz="2400" b="0" i="1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  <a:p>
            <a:r>
              <a:rPr lang="pt-BR" sz="2400" b="0" i="1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“Estrutura contendo processos, atividades e tarefas envolvidas no desenvolvimento, operação e manutenção de um produto de software, abrangendo a vida do sistema, desde a definição de seus requisitos até o término de seu uso.”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AFA4CF-0DBA-02EA-7173-3084A476202B}"/>
              </a:ext>
            </a:extLst>
          </p:cNvPr>
          <p:cNvSpPr txBox="1"/>
          <p:nvPr/>
        </p:nvSpPr>
        <p:spPr>
          <a:xfrm>
            <a:off x="6095999" y="1139252"/>
            <a:ext cx="5506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b="1" dirty="0"/>
              <a:t>Uma definição mais simples:</a:t>
            </a:r>
          </a:p>
          <a:p>
            <a:r>
              <a:rPr lang="pt-BR" sz="3200" dirty="0"/>
              <a:t> </a:t>
            </a:r>
          </a:p>
          <a:p>
            <a:r>
              <a:rPr lang="pt-BR" sz="3200" dirty="0"/>
              <a:t>"O Ciclo de Vida de Desenvolvimento de Sistemas (CVDS) é um </a:t>
            </a:r>
            <a:r>
              <a:rPr lang="pt-BR" sz="3200" u="sng" dirty="0"/>
              <a:t>processo</a:t>
            </a:r>
            <a:r>
              <a:rPr lang="pt-BR" sz="3200" dirty="0"/>
              <a:t> utilizado por um </a:t>
            </a:r>
            <a:r>
              <a:rPr lang="pt-BR" sz="3200" b="1" dirty="0"/>
              <a:t>analista de sistemas </a:t>
            </a:r>
            <a:r>
              <a:rPr lang="pt-BR" sz="3200" dirty="0"/>
              <a:t>para desenvolver um sistema de informação.“ (Wikipédia)</a:t>
            </a:r>
          </a:p>
        </p:txBody>
      </p:sp>
    </p:spTree>
    <p:extLst>
      <p:ext uri="{BB962C8B-B14F-4D97-AF65-F5344CB8AC3E}">
        <p14:creationId xmlns:p14="http://schemas.microsoft.com/office/powerpoint/2010/main" val="175003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A4487-5693-E4E6-F670-8391FABE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3794125"/>
          </a:xfrm>
        </p:spPr>
        <p:txBody>
          <a:bodyPr>
            <a:noAutofit/>
          </a:bodyPr>
          <a:lstStyle/>
          <a:p>
            <a:pPr algn="just"/>
            <a:r>
              <a:rPr lang="pt-BR" sz="40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De maneira menos formal o CVDS é um processo reconhecido pela indústria como uma série de atividades ou etapas para o desenvolvimento de um novo produto software ou para modificar um software existente.</a:t>
            </a:r>
            <a:endParaRPr lang="pt-BR" sz="40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53890-BBA0-44BF-19C1-9A3770EDA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A principal função do ciclo de vida do desenvolvimento de software é indicar as fases, atividades, entregas e responsabilidades de cada envolvido no processo de desenvolvimento de software.</a:t>
            </a:r>
          </a:p>
        </p:txBody>
      </p:sp>
    </p:spTree>
    <p:extLst>
      <p:ext uri="{BB962C8B-B14F-4D97-AF65-F5344CB8AC3E}">
        <p14:creationId xmlns:p14="http://schemas.microsoft.com/office/powerpoint/2010/main" val="338672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E849C-44BC-594E-F5A6-7A02F6F2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Por dentro das principais fases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9E38C-2E3A-936E-9B11-C00385201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De forma geral o CVDS possui cinco fases principais em qualquer um dos modelos de desenvolvimento adotados.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072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E849C-44BC-594E-F5A6-7A02F6F2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Bell MT" panose="02020503060305020303" pitchFamily="18" charset="0"/>
              </a:rPr>
              <a:t>Essas fases são representadas em um diagrama:</a:t>
            </a:r>
            <a:endParaRPr lang="pt-BR" dirty="0">
              <a:latin typeface="Bell MT" panose="02020503060305020303" pitchFamily="18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9E38C-2E3A-936E-9B11-C0038520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0212"/>
            <a:ext cx="5082915" cy="4667250"/>
          </a:xfrm>
        </p:spPr>
        <p:txBody>
          <a:bodyPr>
            <a:normAutofit fontScale="70000" lnSpcReduction="20000"/>
          </a:bodyPr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1- </a:t>
            </a:r>
            <a:r>
              <a:rPr lang="pt-BR" b="1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Fase de requisitos </a:t>
            </a:r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:  levanta os requisitos mínimos, estuda a viabilidade e define o modelo a ser usado;</a:t>
            </a:r>
          </a:p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2- </a:t>
            </a:r>
            <a:r>
              <a:rPr lang="pt-BR" b="1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Fase de projeto </a:t>
            </a:r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: Envolve atividades de concepção, especificação, design da interface, prototipação, design da arquitetura;</a:t>
            </a:r>
          </a:p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3- </a:t>
            </a:r>
            <a:r>
              <a:rPr lang="pt-BR" b="1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Fase de implementação </a:t>
            </a:r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: tradução para uma linguagem de programação das funcionalidades definidas durante as fases anteriores;</a:t>
            </a:r>
          </a:p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4- </a:t>
            </a:r>
            <a:r>
              <a:rPr lang="pt-BR" b="1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Fase de testes </a:t>
            </a:r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: realização de testes no que foi desenvolvido de acordo com os requisitos;</a:t>
            </a:r>
          </a:p>
          <a:p>
            <a:r>
              <a:rPr lang="pt-BR" b="1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5- Fase de produção </a:t>
            </a:r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: implantação em produção do produto final;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3B892F-9899-A036-09BC-590C781A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294" y="1690688"/>
            <a:ext cx="4891548" cy="494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3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49" y="235210"/>
            <a:ext cx="12203655" cy="1325563"/>
          </a:xfrm>
        </p:spPr>
        <p:txBody>
          <a:bodyPr>
            <a:normAutofit/>
          </a:bodyPr>
          <a:lstStyle/>
          <a:p>
            <a:r>
              <a:rPr lang="pt-BR" sz="3600" b="1" dirty="0">
                <a:latin typeface="Bookman Old Style" panose="02050604050505020204" pitchFamily="18" charset="0"/>
              </a:rPr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3138" y="1690688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u="sng" dirty="0">
                <a:latin typeface="Bookman Old Style" panose="02050604050505020204" pitchFamily="18" charset="0"/>
                <a:ea typeface="Cambria Math" panose="02040503050406030204" pitchFamily="18" charset="0"/>
              </a:rPr>
              <a:t>Modelo em Cascata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FA401A-C569-4E47-98AA-29012EA3629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2822" y="2022438"/>
            <a:ext cx="608255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 cascata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uma abordagem sequencial de desenvolvimento de software, onde cada fase do projeto é concluída antes de passar para a próxima. Ele é dividido em várias etapas: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Levantamento de Requisitos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Projeto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Implementação (Desenvolvimento)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Implantação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Manutenção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modelo é rígido e sequencial, dificultando mudanças durante o processo. Embora amplamente usado no passado, ele tem limitações, como pouca flexibilidade. Isso levou ao surgimento de metodologias mais ágeis, como o Scrum.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9389EF-10C2-4AB6-A297-08004B971DC1}"/>
              </a:ext>
            </a:extLst>
          </p:cNvPr>
          <p:cNvSpPr txBox="1"/>
          <p:nvPr/>
        </p:nvSpPr>
        <p:spPr>
          <a:xfrm>
            <a:off x="6759388" y="1690688"/>
            <a:ext cx="54326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Bookman Old Style" panose="02050604050505020204" pitchFamily="18" charset="0"/>
              </a:rPr>
              <a:t>Vantagens:</a:t>
            </a:r>
          </a:p>
          <a:p>
            <a:r>
              <a:rPr lang="pt-BR" b="1" dirty="0"/>
              <a:t>Simplicidade e Clareza</a:t>
            </a:r>
            <a:r>
              <a:rPr lang="pt-BR" dirty="0"/>
              <a:t>: A estrutura linear e sequencial facilita o entendimento do processo e o planejamento das etapas.</a:t>
            </a:r>
          </a:p>
          <a:p>
            <a:r>
              <a:rPr lang="pt-BR" b="1" dirty="0"/>
              <a:t>Facilidade de Gestão</a:t>
            </a:r>
            <a:r>
              <a:rPr lang="pt-BR" dirty="0"/>
              <a:t>: Com etapas bem definidas, é mais fácil monitorar o progresso e controlar o cronograma.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4B3002-BEDF-4B86-8FFE-A71FB892E348}"/>
              </a:ext>
            </a:extLst>
          </p:cNvPr>
          <p:cNvSpPr txBox="1"/>
          <p:nvPr/>
        </p:nvSpPr>
        <p:spPr>
          <a:xfrm>
            <a:off x="6759388" y="3937457"/>
            <a:ext cx="524973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Bookman Old Style" panose="02050604050505020204" pitchFamily="18" charset="0"/>
              </a:rPr>
              <a:t>Desvantagens</a:t>
            </a:r>
            <a:r>
              <a:rPr lang="pt-BR" dirty="0">
                <a:latin typeface="Bookman Old Style" panose="02050604050505020204" pitchFamily="18" charset="0"/>
              </a:rPr>
              <a:t>:</a:t>
            </a:r>
          </a:p>
          <a:p>
            <a:r>
              <a:rPr lang="pt-BR" b="1" dirty="0"/>
              <a:t>Falta de Flexibilidade</a:t>
            </a:r>
            <a:r>
              <a:rPr lang="pt-BR" dirty="0"/>
              <a:t>: Mudanças nos requisitos durante o desenvolvimento são difíceis e custosas de implementar.</a:t>
            </a:r>
          </a:p>
          <a:p>
            <a:r>
              <a:rPr lang="pt-BR" b="1" dirty="0"/>
              <a:t>Feedback Tardio</a:t>
            </a:r>
            <a:r>
              <a:rPr lang="pt-BR" dirty="0"/>
              <a:t>: O cliente só pode ver o produto completo após a fase de testes, o que pode resultar em desvios em relação às expectativas.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089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69AFC-A9D4-4C65-BA50-0B2D9DA8F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14" y="0"/>
            <a:ext cx="10515600" cy="1325563"/>
          </a:xfrm>
        </p:spPr>
        <p:txBody>
          <a:bodyPr/>
          <a:lstStyle/>
          <a:p>
            <a:r>
              <a:rPr lang="pt-BR" b="1" dirty="0">
                <a:latin typeface="Bookman Old Style" panose="02050604050505020204" pitchFamily="18" charset="0"/>
              </a:rPr>
              <a:t>  Imagem do modelo cascata</a:t>
            </a:r>
          </a:p>
        </p:txBody>
      </p:sp>
      <p:pic>
        <p:nvPicPr>
          <p:cNvPr id="3074" name="Picture 2" descr="Modelo Cascata: O que é e como funciona? – Casa da Consultoria">
            <a:extLst>
              <a:ext uri="{FF2B5EF4-FFF2-40B4-BE49-F238E27FC236}">
                <a16:creationId xmlns:a16="http://schemas.microsoft.com/office/drawing/2014/main" id="{FBB5DC5E-C9FB-47A3-94E3-07260E50DC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34" y="1338693"/>
            <a:ext cx="10080811" cy="520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21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E195814-7EAF-40B1-8880-44338FB805FB}"/>
              </a:ext>
            </a:extLst>
          </p:cNvPr>
          <p:cNvSpPr txBox="1"/>
          <p:nvPr/>
        </p:nvSpPr>
        <p:spPr>
          <a:xfrm>
            <a:off x="656883" y="612844"/>
            <a:ext cx="1066308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Bookman Old Style" panose="02050604050505020204" pitchFamily="18" charset="0"/>
              </a:rPr>
              <a:t>Fontes:</a:t>
            </a:r>
          </a:p>
          <a:p>
            <a:endParaRPr lang="pt-BR" sz="2000" b="1" dirty="0"/>
          </a:p>
          <a:p>
            <a:endParaRPr lang="pt-BR" sz="2800" dirty="0">
              <a:latin typeface="Bernard MT Condensed" panose="02050806060905020404" pitchFamily="18" charset="0"/>
            </a:endParaRPr>
          </a:p>
          <a:p>
            <a:r>
              <a:rPr lang="pt-BR" sz="2800" dirty="0">
                <a:latin typeface="Bernard MT Condensed" panose="02050806060905020404" pitchFamily="18" charset="0"/>
              </a:rPr>
              <a:t>                        </a:t>
            </a:r>
          </a:p>
          <a:p>
            <a:r>
              <a:rPr lang="pt-BR" sz="2800" dirty="0">
                <a:latin typeface="Bernard MT Condensed" panose="02050806060905020404" pitchFamily="18" charset="0"/>
              </a:rPr>
              <a:t>                </a:t>
            </a:r>
            <a:r>
              <a:rPr lang="pt-BR" sz="2800" dirty="0">
                <a:latin typeface="Rockwell" panose="02060603020205020403" pitchFamily="18" charset="0"/>
              </a:rPr>
              <a:t>GITMIND</a:t>
            </a:r>
            <a:r>
              <a:rPr lang="pt-BR" sz="2800" dirty="0">
                <a:latin typeface="Bernard MT Condensed" panose="02050806060905020404" pitchFamily="18" charset="0"/>
              </a:rPr>
              <a:t>                                                       </a:t>
            </a:r>
            <a:r>
              <a:rPr lang="pt-BR" sz="2800" dirty="0">
                <a:latin typeface="Rockwell" panose="02060603020205020403" pitchFamily="18" charset="0"/>
              </a:rPr>
              <a:t>CHATGPT</a:t>
            </a:r>
            <a:endParaRPr lang="pt-BR" sz="2000" dirty="0">
              <a:latin typeface="Rockwell" panose="02060603020205020403" pitchFamily="18" charset="0"/>
            </a:endParaRP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pic>
        <p:nvPicPr>
          <p:cNvPr id="4100" name="Picture 4" descr="GitMind: Mapa Mental com IA – Apps no Google Play">
            <a:extLst>
              <a:ext uri="{FF2B5EF4-FFF2-40B4-BE49-F238E27FC236}">
                <a16:creationId xmlns:a16="http://schemas.microsoft.com/office/drawing/2014/main" id="{6F50B06B-FF17-486E-84CB-A77688D20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540" y="2927434"/>
            <a:ext cx="2786230" cy="253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ith OpenAI's Release of GPT-4o, Is ChatGPT Plus Still Worth It? | WIRED">
            <a:extLst>
              <a:ext uri="{FF2B5EF4-FFF2-40B4-BE49-F238E27FC236}">
                <a16:creationId xmlns:a16="http://schemas.microsoft.com/office/drawing/2014/main" id="{B981EF64-07AC-4004-BA13-C533E9E9C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830" y="2831380"/>
            <a:ext cx="3042288" cy="272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55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0e3d24-87c3-4576-9f41-517844c641ef" xsi:nil="true"/>
    <lcf76f155ced4ddcb4097134ff3c332f xmlns="7a004017-df34-45ab-aedf-fff9da1f912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37F7639F957A4A9FE29922F2DEE504" ma:contentTypeVersion="11" ma:contentTypeDescription="Create a new document." ma:contentTypeScope="" ma:versionID="a8323636feee366f00f55ee8d4371143">
  <xsd:schema xmlns:xsd="http://www.w3.org/2001/XMLSchema" xmlns:xs="http://www.w3.org/2001/XMLSchema" xmlns:p="http://schemas.microsoft.com/office/2006/metadata/properties" xmlns:ns2="7a004017-df34-45ab-aedf-fff9da1f9128" xmlns:ns3="3b0e3d24-87c3-4576-9f41-517844c641ef" targetNamespace="http://schemas.microsoft.com/office/2006/metadata/properties" ma:root="true" ma:fieldsID="1a992dca44b36b9830a345073b745c68" ns2:_="" ns3:_="">
    <xsd:import namespace="7a004017-df34-45ab-aedf-fff9da1f9128"/>
    <xsd:import namespace="3b0e3d24-87c3-4576-9f41-517844c641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04017-df34-45ab-aedf-fff9da1f91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e3d24-87c3-4576-9f41-517844c641e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48215c1-77e0-4e35-8d03-de23e7c51e7b}" ma:internalName="TaxCatchAll" ma:showField="CatchAllData" ma:web="3b0e3d24-87c3-4576-9f41-517844c641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C4FFFC-BE4F-45DF-BD22-B7CF81365F22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3b0e3d24-87c3-4576-9f41-517844c641ef"/>
    <ds:schemaRef ds:uri="7a004017-df34-45ab-aedf-fff9da1f912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BE30BE7-F6CF-47C9-8E04-2AF84CA0E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004017-df34-45ab-aedf-fff9da1f9128"/>
    <ds:schemaRef ds:uri="3b0e3d24-87c3-4576-9f41-517844c64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1C45D8-0AE1-4F9C-AB0E-AD34D546E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623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20" baseType="lpstr">
      <vt:lpstr>Arial</vt:lpstr>
      <vt:lpstr>Bell MT</vt:lpstr>
      <vt:lpstr>Bernard MT Condensed</vt:lpstr>
      <vt:lpstr>Bookman Old Style</vt:lpstr>
      <vt:lpstr>Calibri</vt:lpstr>
      <vt:lpstr>Calibri Light</vt:lpstr>
      <vt:lpstr>Cambria Math</vt:lpstr>
      <vt:lpstr>Rockwell</vt:lpstr>
      <vt:lpstr>Trebuchet MS</vt:lpstr>
      <vt:lpstr>Office Theme</vt:lpstr>
      <vt:lpstr>A Modelagem do Sistema</vt:lpstr>
      <vt:lpstr>Apresentação do PowerPoint</vt:lpstr>
      <vt:lpstr>O que é o Ciclo de Vida de Desenvolvimento de Software - CVDS ?</vt:lpstr>
      <vt:lpstr>Segunda a norma NBR ISO/IEC 12207:1998 a definição oficial é :</vt:lpstr>
      <vt:lpstr>De maneira menos formal o CVDS é um processo reconhecido pela indústria como uma série de atividades ou etapas para o desenvolvimento de um novo produto software ou para modificar um software existente.</vt:lpstr>
      <vt:lpstr>Por dentro das principais fases</vt:lpstr>
      <vt:lpstr>Essas fases são representadas em um diagrama:</vt:lpstr>
      <vt:lpstr>Principais modelos do ciclo de vida de desenvolvimento de software</vt:lpstr>
      <vt:lpstr>  Imagem do modelo cascata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é o Ciclo de Vida de Desenvolvimento de Software - CVDS ?</dc:title>
  <dc:creator>Andrea Avezum Martus</dc:creator>
  <cp:lastModifiedBy>Micro</cp:lastModifiedBy>
  <cp:revision>16</cp:revision>
  <dcterms:created xsi:type="dcterms:W3CDTF">2023-02-26T20:09:22Z</dcterms:created>
  <dcterms:modified xsi:type="dcterms:W3CDTF">2025-03-17T16:10:24Z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0x010100DF37F7639F957A4A9FE29922F2DEE504</vt:lpwstr>
  </property>
</Properties>
</file>