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9" d="100"/>
          <a:sy n="89" d="100"/>
        </p:scale>
        <p:origin x="61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ED85AB-ECB2-EEC6-E12D-EAB4DDA55A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707C02-72AB-EC0D-B53C-C516FA0E87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F88913-C63B-B33E-21AB-4C2BFC128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3FA3-5BE5-4A44-913C-3A40F0F6C774}" type="datetimeFigureOut">
              <a:rPr lang="pt-BR" smtClean="0"/>
              <a:t>15/05/2025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3AA41D-771C-0972-6443-7C1109BA4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494513-7D81-8751-B5DB-1730B99B5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01AD1-E191-4088-BD1D-C9A47869C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320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E3D123-106E-69F8-CF5D-1CD2DEB00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0DF6F1-2FE2-19F7-95D3-41D64BB1E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BE3260-B019-60C6-85BC-EB141CEC6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3FA3-5BE5-4A44-913C-3A40F0F6C774}" type="datetimeFigureOut">
              <a:rPr lang="pt-BR" smtClean="0"/>
              <a:t>15/05/2025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9B84E2-CA93-A6BE-6E1C-521E85660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7FBC97-5A9C-F82E-D628-E9EC959C5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01AD1-E191-4088-BD1D-C9A47869C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5554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FCEFCE-A4BC-B63E-CF4B-015B9355D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6C5A855-0B0B-962D-E7FD-5462E7D88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CBA148-0DDE-2BC7-87AF-6EE5789AC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3FA3-5BE5-4A44-913C-3A40F0F6C774}" type="datetimeFigureOut">
              <a:rPr lang="pt-BR" smtClean="0"/>
              <a:t>15/05/2025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E7356A-814B-33C7-9246-1CA1138EA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371CCC-5F00-23E8-CB21-46EAD81BF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01AD1-E191-4088-BD1D-C9A47869C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9772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2B8D98-9396-4605-2820-AB1262F8B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FE00B9-CC59-2AE6-82EF-E44EF02982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ABFA4E-05B6-ABC5-3046-2A71D493D1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38D2AA5-7F4F-080B-22B0-10184C061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3FA3-5BE5-4A44-913C-3A40F0F6C774}" type="datetimeFigureOut">
              <a:rPr lang="pt-BR" smtClean="0"/>
              <a:t>15/05/2025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472C001-A36B-151D-C329-09B46E06D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2344590-3B2B-ED9B-9BD1-E8DCE4E97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01AD1-E191-4088-BD1D-C9A47869C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6636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D454F-DF49-B505-6096-B8AD78C53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106BA65-63A7-7866-6060-D076FEF38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38C931F-F857-322E-F3E3-05682710B5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5FD26B3-0430-7C7A-BCE7-0D7DBAF240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1CD37B3-185C-191B-7C95-AFB6E19485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773AEE5-EB59-75B4-7B8D-6A4E68B93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3FA3-5BE5-4A44-913C-3A40F0F6C774}" type="datetimeFigureOut">
              <a:rPr lang="pt-BR" smtClean="0"/>
              <a:t>15/05/2025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D4A96D5-7D41-5AA3-D9F1-860465D6B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42D3707-FF42-71D3-3D92-DD207DF26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01AD1-E191-4088-BD1D-C9A47869C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4126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543F8D-65DC-C58E-BE5C-27E4ACFF1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B7365F-1180-5B4B-7030-5606FB33C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3FA3-5BE5-4A44-913C-3A40F0F6C774}" type="datetimeFigureOut">
              <a:rPr lang="pt-BR" smtClean="0"/>
              <a:t>15/05/2025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157BA59-360A-EA36-83DE-26561FB30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314ECEF-2BA0-9BE6-C85D-419C5DFFB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01AD1-E191-4088-BD1D-C9A47869C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064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DEE1E66-7038-2E41-8CC7-841D22B52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3FA3-5BE5-4A44-913C-3A40F0F6C774}" type="datetimeFigureOut">
              <a:rPr lang="pt-BR" smtClean="0"/>
              <a:t>15/05/2025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B6A50AF-1AE7-D519-0F78-FD590881E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13A49BE-E6AE-87CA-D22A-B0B04E399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01AD1-E191-4088-BD1D-C9A47869C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522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548D84-455A-D428-04CB-758858B09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95A462-1697-F942-3027-E75716354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CA5149E-F3B9-1F88-3C3C-7BE25C6393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6EA3514-75A4-E225-5002-00538175F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3FA3-5BE5-4A44-913C-3A40F0F6C774}" type="datetimeFigureOut">
              <a:rPr lang="pt-BR" smtClean="0"/>
              <a:t>15/05/2025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2E743BA-7850-815F-CB72-F8A052D56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30DA2E1-4E56-8E10-5C90-A11930890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01AD1-E191-4088-BD1D-C9A47869C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5064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1995EF-5780-040E-B94C-68B900B9A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65FE397-046B-CF26-E091-BAA55F1D95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A1EC0C0-DCEE-CAE7-1AE1-4CA7C6874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F5ACB82-C3B2-1613-15C7-AFD88414A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3FA3-5BE5-4A44-913C-3A40F0F6C774}" type="datetimeFigureOut">
              <a:rPr lang="pt-BR" smtClean="0"/>
              <a:t>15/05/2025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F53DA75-F242-38F1-061E-5D81F2505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1F18166-DD04-CF6F-9796-2EB2EF59A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01AD1-E191-4088-BD1D-C9A47869C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3926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C74EF2-A4B2-D8E1-B023-F6C433AC6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A0052DC-89B6-8C00-E9CB-3111D4A4D7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17AD4F-6E65-6A94-9F77-F6CDC9E1D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3FA3-5BE5-4A44-913C-3A40F0F6C774}" type="datetimeFigureOut">
              <a:rPr lang="pt-BR" smtClean="0"/>
              <a:t>15/05/2025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94D2E2-6748-0225-A960-F98606EF9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CB2DAA-D655-9BE6-AFF0-9102C4C90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01AD1-E191-4088-BD1D-C9A47869C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1835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F0F8660-ADEA-B31E-93DD-1ED07B1CA9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7C7CF0F-8288-CB29-640B-AD700F189F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D516656-BBCC-9AAC-433B-9F9288B16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3FA3-5BE5-4A44-913C-3A40F0F6C774}" type="datetimeFigureOut">
              <a:rPr lang="pt-BR" smtClean="0"/>
              <a:t>15/05/2025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7B492D-4DFC-3255-82EA-397730550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3DD0BC-2FFE-CEE6-A1AA-AB0D5A4B2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01AD1-E191-4088-BD1D-C9A47869C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6779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1904F51-F231-55C6-EBAB-7DC4828DC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930C7A0-5CEB-1FF4-9291-B61D05363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F3F73-BF6C-28FA-BA81-0E08064E60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8C3FA3-5BE5-4A44-913C-3A40F0F6C774}" type="datetimeFigureOut">
              <a:rPr lang="pt-BR" smtClean="0"/>
              <a:t>15/05/2025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A5B263-1DB4-E1D4-E493-9F2A1C6AC6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A23F8B-558E-430E-C5BB-B660EA4ABC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F01AD1-E191-4088-BD1D-C9A47869C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6320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379BFB-1A03-2C25-2C30-1E81914527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Análise e Projeto de Sistemas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EDC257A-A947-D593-671B-D4BD7705C8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81736"/>
            <a:ext cx="9144000" cy="1655762"/>
          </a:xfrm>
        </p:spPr>
        <p:txBody>
          <a:bodyPr/>
          <a:lstStyle/>
          <a:p>
            <a:r>
              <a:rPr lang="pt-BR" dirty="0">
                <a:latin typeface="Bahnschrift SemiBold" panose="020B0502040204020203" pitchFamily="34" charset="0"/>
              </a:rPr>
              <a:t>Felipe Costa, Gabriel Barbosa, Mariana Moraes e Mateus de Paula  </a:t>
            </a:r>
          </a:p>
          <a:p>
            <a:r>
              <a:rPr lang="pt-BR" b="1" dirty="0">
                <a:latin typeface="Bahnschrift SemiBold" panose="020B0502040204020203" pitchFamily="34" charset="0"/>
              </a:rPr>
              <a:t>1° DS</a:t>
            </a:r>
          </a:p>
        </p:txBody>
      </p:sp>
    </p:spTree>
    <p:extLst>
      <p:ext uri="{BB962C8B-B14F-4D97-AF65-F5344CB8AC3E}">
        <p14:creationId xmlns:p14="http://schemas.microsoft.com/office/powerpoint/2010/main" val="1828973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B56492-8785-A423-58F0-162BC59FD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4066"/>
            <a:ext cx="10515600" cy="1325563"/>
          </a:xfrm>
        </p:spPr>
        <p:txBody>
          <a:bodyPr/>
          <a:lstStyle/>
          <a:p>
            <a:r>
              <a:rPr lang="pt-BR" b="0" i="0" dirty="0">
                <a:solidFill>
                  <a:srgbClr val="1F1F1F"/>
                </a:solidFill>
                <a:effectLst/>
                <a:latin typeface="Google Sans"/>
              </a:rPr>
              <a:t>Quem são os </a:t>
            </a:r>
            <a:r>
              <a:rPr lang="pt-BR" b="1" i="0" dirty="0">
                <a:solidFill>
                  <a:srgbClr val="1F1F1F"/>
                </a:solidFill>
                <a:effectLst/>
                <a:latin typeface="Google Sans"/>
              </a:rPr>
              <a:t>stakeholders</a:t>
            </a:r>
            <a:r>
              <a:rPr lang="pt-BR" b="0" i="0" dirty="0">
                <a:solidFill>
                  <a:srgbClr val="1F1F1F"/>
                </a:solidFill>
                <a:effectLst/>
                <a:latin typeface="Google Sans"/>
              </a:rPr>
              <a:t> no desenvolvimento </a:t>
            </a:r>
            <a:r>
              <a:rPr lang="pt-BR" dirty="0">
                <a:solidFill>
                  <a:srgbClr val="1F1F1F"/>
                </a:solidFill>
                <a:latin typeface="Google Sans"/>
              </a:rPr>
              <a:t>do </a:t>
            </a:r>
            <a:r>
              <a:rPr lang="pt-BR" b="0" i="0" dirty="0">
                <a:solidFill>
                  <a:srgbClr val="1F1F1F"/>
                </a:solidFill>
                <a:effectLst/>
                <a:latin typeface="Google Sans"/>
              </a:rPr>
              <a:t>projeto de um sistema?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F1EAA2-A71E-1AD1-87BA-4F4F9D75A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768" y="2282358"/>
            <a:ext cx="10880464" cy="4486275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	No desenvolvimento de um projeto de sistema, os stakeholders são todas as partes interessadas ou afetadas pelo projeto, seja de forma direta ou indireta. Isso inclui pessoas, grupos, organizações e até entidades governamentais que podem ter interesse nos resultados do projeto, influenciando ou sendo influenciadas por ele.  Eles podem ser internos (funcionários, acionistas) ou externos (clientes, fornecedores, comunidade).</a:t>
            </a:r>
          </a:p>
          <a:p>
            <a:pPr marL="0" indent="0">
              <a:buNone/>
            </a:pPr>
            <a:r>
              <a:rPr lang="pt-BR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192054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037B5FF3-80C8-115E-6953-37E4AD3A4349}"/>
              </a:ext>
            </a:extLst>
          </p:cNvPr>
          <p:cNvSpPr txBox="1"/>
          <p:nvPr/>
        </p:nvSpPr>
        <p:spPr>
          <a:xfrm>
            <a:off x="1169233" y="1004342"/>
            <a:ext cx="936885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242424"/>
                </a:solidFill>
                <a:effectLst/>
                <a:latin typeface="-apple-system"/>
              </a:rPr>
              <a:t>Pense em uma </a:t>
            </a:r>
            <a:r>
              <a:rPr lang="pt-BR" sz="3600" b="1" i="0" dirty="0">
                <a:solidFill>
                  <a:srgbClr val="242424"/>
                </a:solidFill>
                <a:effectLst/>
                <a:latin typeface="-apple-system"/>
              </a:rPr>
              <a:t>nova aplicação </a:t>
            </a:r>
            <a:r>
              <a:rPr lang="pt-BR" sz="3600" b="0" i="0" dirty="0">
                <a:solidFill>
                  <a:srgbClr val="242424"/>
                </a:solidFill>
                <a:effectLst/>
                <a:latin typeface="-apple-system"/>
              </a:rPr>
              <a:t>ou </a:t>
            </a:r>
            <a:r>
              <a:rPr lang="pt-BR" sz="3600" b="1" i="0" dirty="0">
                <a:solidFill>
                  <a:srgbClr val="242424"/>
                </a:solidFill>
                <a:effectLst/>
                <a:latin typeface="-apple-system"/>
              </a:rPr>
              <a:t>plataforma</a:t>
            </a:r>
            <a:r>
              <a:rPr lang="pt-BR" sz="3600" b="0" i="0" dirty="0">
                <a:solidFill>
                  <a:srgbClr val="242424"/>
                </a:solidFill>
                <a:effectLst/>
                <a:latin typeface="-apple-system"/>
              </a:rPr>
              <a:t> que atenda às necessidades de um negócio.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242424"/>
                </a:solidFill>
                <a:effectLst/>
                <a:latin typeface="-apple-system"/>
              </a:rPr>
              <a:t>Crie no mínimo </a:t>
            </a:r>
            <a:r>
              <a:rPr lang="pt-BR" sz="3600" b="1" i="0" dirty="0">
                <a:solidFill>
                  <a:srgbClr val="242424"/>
                </a:solidFill>
                <a:effectLst/>
                <a:latin typeface="-apple-system"/>
              </a:rPr>
              <a:t>5 perguntas </a:t>
            </a:r>
            <a:r>
              <a:rPr lang="pt-BR" sz="3600" b="0" i="0" dirty="0">
                <a:solidFill>
                  <a:srgbClr val="242424"/>
                </a:solidFill>
                <a:effectLst/>
                <a:latin typeface="-apple-system"/>
              </a:rPr>
              <a:t>para um questionário que deverá ser respondido pelo </a:t>
            </a:r>
            <a:r>
              <a:rPr lang="pt-BR" sz="3600" b="1" i="0" dirty="0">
                <a:solidFill>
                  <a:srgbClr val="242424"/>
                </a:solidFill>
                <a:effectLst/>
                <a:latin typeface="-apple-system"/>
              </a:rPr>
              <a:t>ChatGPT</a:t>
            </a:r>
            <a:r>
              <a:rPr lang="pt-BR" sz="3600" b="0" i="0" dirty="0">
                <a:solidFill>
                  <a:srgbClr val="242424"/>
                </a:solidFill>
                <a:effectLst/>
                <a:latin typeface="-apple-system"/>
              </a:rPr>
              <a:t>, que fará o papel do stakeholder para o </a:t>
            </a:r>
            <a:r>
              <a:rPr lang="pt-BR" sz="3600" b="1" i="0" dirty="0">
                <a:solidFill>
                  <a:srgbClr val="242424"/>
                </a:solidFill>
                <a:effectLst/>
                <a:highlight>
                  <a:srgbClr val="FFFF00"/>
                </a:highlight>
                <a:latin typeface="-apple-system"/>
              </a:rPr>
              <a:t>problema</a:t>
            </a:r>
            <a:r>
              <a:rPr lang="pt-BR" sz="3600" b="0" i="0" dirty="0">
                <a:solidFill>
                  <a:srgbClr val="242424"/>
                </a:solidFill>
                <a:effectLst/>
                <a:highlight>
                  <a:srgbClr val="FFFF00"/>
                </a:highlight>
                <a:latin typeface="-apple-system"/>
              </a:rPr>
              <a:t> .... 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242424"/>
                </a:solidFill>
                <a:effectLst/>
                <a:latin typeface="-apple-system"/>
              </a:rPr>
              <a:t>Devolva sua atividade com as perguntas e as respostas do stakeholder.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1294907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073CD74-CA13-4934-8EAC-B5132625F3E3}"/>
              </a:ext>
            </a:extLst>
          </p:cNvPr>
          <p:cNvSpPr txBox="1"/>
          <p:nvPr/>
        </p:nvSpPr>
        <p:spPr>
          <a:xfrm>
            <a:off x="399824" y="293329"/>
            <a:ext cx="1106961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2800" dirty="0">
              <a:latin typeface="+mj-lt"/>
            </a:endParaRPr>
          </a:p>
          <a:p>
            <a:r>
              <a:rPr lang="pt-BR" sz="2800" dirty="0">
                <a:latin typeface="+mj-lt"/>
              </a:rPr>
              <a:t>O tema da nossa pesquisa é “Ataque cibernético” e nesse contexto nós vamos perguntar aos stakeholders o que eles acham que ajudaria na solução desse problema.</a:t>
            </a:r>
          </a:p>
          <a:p>
            <a:r>
              <a:rPr lang="pt-BR" sz="2800" dirty="0">
                <a:solidFill>
                  <a:srgbClr val="FF0000"/>
                </a:solidFill>
                <a:latin typeface="Bahnschrift Light SemiCondensed" panose="020B0502040204020203" pitchFamily="34" charset="0"/>
              </a:rPr>
              <a:t>      </a:t>
            </a:r>
          </a:p>
          <a:p>
            <a:r>
              <a:rPr lang="pt-BR" sz="2800" dirty="0"/>
              <a:t>Este questionário permite levantar insumos valiosos para o desenvolvimento de uma plataforma de monitoramento e resposta a incidentes cibernéticos, voltada à prevenção, contenção e comunicação eficaz em casos de ataque. A visão do stakeholder mostra que o sistema deve ser proativo, integrando segurança, transparência e usabilidade interna.</a:t>
            </a:r>
          </a:p>
          <a:p>
            <a:endParaRPr lang="pt-BR" sz="2800" dirty="0">
              <a:latin typeface="Bahnschrift Light SemiCondensed" panose="020B0502040204020203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8BF8FAD-CBCD-466F-8521-D5E54A0D1C37}"/>
              </a:ext>
            </a:extLst>
          </p:cNvPr>
          <p:cNvSpPr txBox="1"/>
          <p:nvPr/>
        </p:nvSpPr>
        <p:spPr>
          <a:xfrm>
            <a:off x="399824" y="189919"/>
            <a:ext cx="83802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rgbClr val="FF0000"/>
                </a:solidFill>
                <a:latin typeface="Bell MT" panose="02020503060305020303" pitchFamily="18" charset="0"/>
              </a:rPr>
              <a:t>Tema</a:t>
            </a:r>
            <a:r>
              <a:rPr lang="pt-BR" sz="3200" dirty="0">
                <a:solidFill>
                  <a:srgbClr val="FF0000"/>
                </a:solidFill>
                <a:latin typeface="Bell MT" panose="02020503060305020303" pitchFamily="18" charset="0"/>
              </a:rPr>
              <a:t>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981D184-1741-4C52-9128-615AE878B1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8388" y="4694219"/>
            <a:ext cx="3543286" cy="193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712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41CD4-2A50-8035-8AC1-48E3E851F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1036"/>
            <a:ext cx="10515600" cy="1325563"/>
          </a:xfrm>
        </p:spPr>
        <p:txBody>
          <a:bodyPr/>
          <a:lstStyle/>
          <a:p>
            <a:r>
              <a:rPr lang="pt-BR" dirty="0"/>
              <a:t>Pergunta 1 – Como esse ataque cibernético afetou o desempenho da empresa?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9D2060-E1C5-DC82-A386-5F7B9DC03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501" y="2040778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pt-BR" sz="3600" b="1" dirty="0"/>
              <a:t>Resposta do stakeholder:</a:t>
            </a:r>
            <a:br>
              <a:rPr lang="pt-BR" sz="3600" dirty="0"/>
            </a:br>
            <a:r>
              <a:rPr lang="pt-BR" sz="3600" dirty="0"/>
              <a:t>O ataque teve impacto direto na nossa operação. Houve interrupção temporária dos serviços, o que comprometeu a produtividade e atrasou processos essenciais, como atendimento ao cliente e processamento de pedidos. Além disso, tivemos custos imprevistos com contenção, restauração de dados e reforço emergencial da segurança. A confiança dos clientes também foi afetada, exigindo ações rápidas de comunicação e recuperação.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3917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41CD4-2A50-8035-8AC1-48E3E851F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126"/>
            <a:ext cx="10515600" cy="1325563"/>
          </a:xfrm>
        </p:spPr>
        <p:txBody>
          <a:bodyPr/>
          <a:lstStyle/>
          <a:p>
            <a:r>
              <a:rPr lang="pt-BR" dirty="0"/>
              <a:t>Pergunta 2 – Qual foi o impacto da situação na sua rotina e na da equipe?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9D2060-E1C5-DC82-A386-5F7B9DC03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805" y="2169870"/>
            <a:ext cx="10515600" cy="4351338"/>
          </a:xfrm>
        </p:spPr>
        <p:txBody>
          <a:bodyPr>
            <a:normAutofit/>
          </a:bodyPr>
          <a:lstStyle/>
          <a:p>
            <a:r>
              <a:rPr lang="pt-BR" b="1" dirty="0"/>
              <a:t>Resposta do stakeholder:</a:t>
            </a:r>
            <a:br>
              <a:rPr lang="pt-BR" dirty="0"/>
            </a:br>
            <a:r>
              <a:rPr lang="pt-BR" dirty="0"/>
              <a:t>Foi um momento de alta pressão. Tivemos que reestruturar nossa rotina para responder ao incidente, com foco total na contenção e mitigação. As equipes de TI e atendimento ao cliente foram particularmente exigidas, e o clima organizacional ficou mais tenso. Apesar disso, a colaboração entre setores aumentou, e identificamos pontos de melhoria importantes em nossos processos internos.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35629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41CD4-2A50-8035-8AC1-48E3E851F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042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pt-BR" dirty="0"/>
              <a:t>Pergunta 3 – Quais medidas você acredita que são mais urgentes para evitar novos ataques?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9D2060-E1C5-DC82-A386-5F7B9DC03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532" y="2055813"/>
            <a:ext cx="10930666" cy="4802187"/>
          </a:xfrm>
        </p:spPr>
        <p:txBody>
          <a:bodyPr>
            <a:normAutofit/>
          </a:bodyPr>
          <a:lstStyle/>
          <a:p>
            <a:r>
              <a:rPr lang="pt-BR" b="1" dirty="0"/>
              <a:t>Resposta do stakeholder:</a:t>
            </a:r>
            <a:br>
              <a:rPr lang="pt-BR" dirty="0"/>
            </a:br>
            <a:r>
              <a:rPr lang="pt-BR" dirty="0"/>
              <a:t>Precisamos revisar nossa arquitetura de segurança imediatamente. Autenticação multifator, políticas de acesso mais restritivas, monitoramento contínuo e backups automatizados são prioridades. Além disso, é fundamental realizar auditorias regulares de segurança e estabelecer um plano formal de resposta a incidentes com simulações periódicas.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2958609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41CD4-2A50-8035-8AC1-48E3E851F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1370"/>
            <a:ext cx="10515600" cy="932740"/>
          </a:xfrm>
        </p:spPr>
        <p:txBody>
          <a:bodyPr>
            <a:normAutofit fontScale="90000"/>
          </a:bodyPr>
          <a:lstStyle/>
          <a:p>
            <a:r>
              <a:rPr lang="pt-BR" dirty="0"/>
              <a:t>Pergunta 4 –  </a:t>
            </a:r>
            <a:r>
              <a:rPr lang="pt-BR" sz="3600" dirty="0"/>
              <a:t>Quais melhorias poderiam ser feitas nos nossos softwares ou sistemas para aumentar a segurança?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9D2060-E1C5-DC82-A386-5F7B9DC03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6990"/>
            <a:ext cx="10515600" cy="4351338"/>
          </a:xfrm>
        </p:spPr>
        <p:txBody>
          <a:bodyPr>
            <a:normAutofit/>
          </a:bodyPr>
          <a:lstStyle/>
          <a:p>
            <a:r>
              <a:rPr lang="pt-BR" b="1" dirty="0"/>
              <a:t>Resposta do stakeholder:</a:t>
            </a:r>
            <a:br>
              <a:rPr lang="pt-BR" dirty="0"/>
            </a:br>
            <a:r>
              <a:rPr lang="pt-BR" dirty="0"/>
              <a:t>Sugiro aplicar práticas de desenvolvimento seguro (DevSecOps), uso de criptografia de ponta a ponta, testes de penetração contínuos e revisão de código com foco em vulnerabilidades conhecidas. Também devemos investir em ferramentas de detecção de intrusão e alertas automatizados para atividades anômalas.</a:t>
            </a:r>
          </a:p>
        </p:txBody>
      </p:sp>
    </p:spTree>
    <p:extLst>
      <p:ext uri="{BB962C8B-B14F-4D97-AF65-F5344CB8AC3E}">
        <p14:creationId xmlns:p14="http://schemas.microsoft.com/office/powerpoint/2010/main" val="1684193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41CD4-2A50-8035-8AC1-48E3E851F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077" y="53724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pt-BR" dirty="0"/>
              <a:t>Pergunta 5 - Como foi feita a comunicação com os clientes e parceiros? Acredita que foi eficiente?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9D2060-E1C5-DC82-A386-5F7B9DC03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077" y="2234416"/>
            <a:ext cx="10515600" cy="4351338"/>
          </a:xfrm>
        </p:spPr>
        <p:txBody>
          <a:bodyPr>
            <a:normAutofit/>
          </a:bodyPr>
          <a:lstStyle/>
          <a:p>
            <a:r>
              <a:rPr lang="pt-BR" b="1" dirty="0"/>
              <a:t>Resposta do stakeholder:</a:t>
            </a:r>
            <a:br>
              <a:rPr lang="pt-BR" dirty="0"/>
            </a:br>
            <a:r>
              <a:rPr lang="pt-BR" dirty="0"/>
              <a:t>Sim, fomos transparentes. Informamos os clientes e parceiros através de comunicados oficiais por e-mail, notificações no site e redes sociais. Criamos uma FAQ para dúvidas frequentes e disponibilizamos suporte dedicado. A resposta foi positiva, mas reforçamos que nossa prioridade é garantir que isso não volte a acontecer.</a:t>
            </a:r>
          </a:p>
        </p:txBody>
      </p:sp>
    </p:spTree>
    <p:extLst>
      <p:ext uri="{BB962C8B-B14F-4D97-AF65-F5344CB8AC3E}">
        <p14:creationId xmlns:p14="http://schemas.microsoft.com/office/powerpoint/2010/main" val="465802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640</Words>
  <Application>Microsoft Office PowerPoint</Application>
  <PresentationFormat>Widescreen</PresentationFormat>
  <Paragraphs>24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8" baseType="lpstr">
      <vt:lpstr>-apple-system</vt:lpstr>
      <vt:lpstr>Aptos</vt:lpstr>
      <vt:lpstr>Aptos Display</vt:lpstr>
      <vt:lpstr>Arial</vt:lpstr>
      <vt:lpstr>Bahnschrift Light SemiCondensed</vt:lpstr>
      <vt:lpstr>Bahnschrift SemiBold</vt:lpstr>
      <vt:lpstr>Bell MT</vt:lpstr>
      <vt:lpstr>Google Sans</vt:lpstr>
      <vt:lpstr>Tema do Office</vt:lpstr>
      <vt:lpstr>Análise e Projeto de Sistemas</vt:lpstr>
      <vt:lpstr>Quem são os stakeholders no desenvolvimento do projeto de um sistema?</vt:lpstr>
      <vt:lpstr>Apresentação do PowerPoint</vt:lpstr>
      <vt:lpstr>Apresentação do PowerPoint</vt:lpstr>
      <vt:lpstr>Pergunta 1 – Como esse ataque cibernético afetou o desempenho da empresa?</vt:lpstr>
      <vt:lpstr>Pergunta 2 – Qual foi o impacto da situação na sua rotina e na da equipe? </vt:lpstr>
      <vt:lpstr>Pergunta 3 – Quais medidas você acredita que são mais urgentes para evitar novos ataques? </vt:lpstr>
      <vt:lpstr>Pergunta 4 –  Quais melhorias poderiam ser feitas nos nossos softwares ou sistemas para aumentar a segurança? </vt:lpstr>
      <vt:lpstr>Pergunta 5 - Como foi feita a comunicação com os clientes e parceiros? Acredita que foi eficiente?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e Projeto de Sistemas</dc:title>
  <dc:creator>Andrea Avezum Martus</dc:creator>
  <cp:lastModifiedBy>Micro</cp:lastModifiedBy>
  <cp:revision>16</cp:revision>
  <dcterms:created xsi:type="dcterms:W3CDTF">2025-04-22T23:41:48Z</dcterms:created>
  <dcterms:modified xsi:type="dcterms:W3CDTF">2025-05-15T16:02:19Z</dcterms:modified>
</cp:coreProperties>
</file>