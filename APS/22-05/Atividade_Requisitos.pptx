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8" r:id="rId4"/>
    <p:sldId id="257" r:id="rId5"/>
    <p:sldId id="270" r:id="rId6"/>
    <p:sldId id="267" r:id="rId7"/>
    <p:sldId id="26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5A42-523B-ACA8-B9EB-5B0611A5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B96F2A-CAEE-B6F7-2AA3-AA1EF8700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29F3D-B4E7-666C-E3DA-B6DC28BB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67CD9A-C5E1-44DB-D97C-8FD850F3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DE0A7-F917-C783-0D33-D435F5D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64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65F4B-42D7-842A-F59E-590942E1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4DEDC1-C1B2-A38E-DD10-23E58927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4BD9E5-AA8B-1D5E-3FDB-828ABC2F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488620-A402-775D-76CC-56D2B5BC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C58C-A678-6EEB-8525-2A1C67ED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6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3305F-5F58-13F3-9839-2993A9D5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81C80-72DB-7453-FCB8-D35D6B805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CD304-AFE7-4C7B-7691-790465DE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2A250-A9EF-6ADD-6A1D-9E02C6F4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BD71C-8B48-081F-B0A3-39F61D6D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84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04B65-3BA9-012D-0C57-5105C3B9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1C882E-E5AA-DADD-5979-341215DB6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3ADB48-A5CA-A180-9CC6-FB4219F85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FFD6DC-B124-DE9D-887C-DE59C418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838BC0-5122-5DA8-45BC-0A90D2A0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E12ED0-3D88-93EA-87AF-6B938716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99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7EF24-5298-33A8-5DBC-5A057456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ABC196-F62C-CAFE-3D95-A1534F935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E559A-3481-C1A0-4551-3F193E990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8821F1-9922-4173-762D-37527354B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537CF9-943C-7621-1DE9-E67ADA397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AA9F39-7533-DEFE-EFB4-491C96F0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8FA0AF-3CED-954B-D175-8370F837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EFF2C-5B4A-2B1F-818B-5AD6209C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52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BE47C-A3D5-BB80-335F-5D69BDC8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30B2EE-8D23-2CD9-3FBC-A44F5373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9CA1F9-BC79-FCEB-DD1A-4C0D30C8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39CCB4-2B54-0D60-B7F5-DA82B962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4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977C15-DBC4-0050-CE4F-C02E9540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A8DFB1-F4B9-7C06-44D0-BBDF57C2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FAC400-F4A4-036B-EC93-B8E8A44E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72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10FEB-1B7D-8270-7861-F730E43C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52F2FA-A6C0-AEEE-BD81-3675F805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F7985-682B-0C52-BBBF-588854ADB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C413DD-3B4C-5F35-AA24-B147057D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396327-E4C1-21FC-A851-1A69A65E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0FC413-CAC7-5F6A-0A9D-E5B53E84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72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FE706-1826-F4EB-EFB7-02A3846B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D5D10B-2566-6121-00C4-631290EC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51A118-047E-893F-3E5E-B81C9E5A5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14193-8978-1007-7D1C-064C67D0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AC4DFD-3803-8B16-C2AC-B75F6E3D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94DD2-FCB5-A967-3897-088E975D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40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FE192-6C14-C6A4-A5BD-F5E48E80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DEE317-439F-FA05-EBE5-C927F2113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A999B9-D8A0-D268-3FAA-8E4CA677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BC0B58-589A-9B1B-76A5-1029FFE4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D77F12-6C9A-BCC4-DE65-628B0CB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5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6334EF-4DEF-2EF2-1EE9-405D5BBE6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B8FF45-1D85-AA6E-6A4F-08A09FB07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B34DFB-D4EC-B13E-DF0A-1994A4A5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D7CD9-9F77-7D52-D684-3F5D5EEF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01425-3922-B689-56AF-7928DC14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04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8C5F83-8A34-0297-0045-ED5D5850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8DEF21-2722-F1DF-29EB-4F1B712DC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97CE9F-CCFB-6FE4-DCA3-EF6C122C8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CC018-DDAC-4408-8BB5-07CFEB40FC31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5480A-154E-CAFA-F634-72CB83EA5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32766B-81D4-165F-23D4-07C5D8C75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C8E3-DF30-4584-9FAF-5CA81D9F0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4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A31E-2314-F353-206C-AD1D8B7F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Análise e Projeto de Sistemas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DCD43BD-E859-3894-9C49-5707BFF01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901" y="3731130"/>
            <a:ext cx="10008198" cy="1655762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Bell MT" panose="02020503060305020303" pitchFamily="18" charset="0"/>
              </a:rPr>
              <a:t>Mariana M, Gabriel Barbosa, Felipe Costa e Mateus de Paula.</a:t>
            </a:r>
          </a:p>
          <a:p>
            <a:r>
              <a:rPr lang="pt-BR" sz="2800" b="1" dirty="0">
                <a:latin typeface="Bell MT" panose="02020503060305020303" pitchFamily="18" charset="0"/>
              </a:rPr>
              <a:t>1° Desenvolvimento de Sistemas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7ADFE3-1247-20F0-3329-43AF84BB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809" y="249058"/>
            <a:ext cx="385816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1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funcionais – </a:t>
            </a:r>
            <a:r>
              <a:rPr lang="pt-BR" b="1" dirty="0">
                <a:solidFill>
                  <a:srgbClr val="C00000"/>
                </a:solidFill>
              </a:rPr>
              <a:t>O que são?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requisitos funcionais correspondem a tudo o que o sistema deverá fazer, eles são numerados e listados durante o levantamento. São </a:t>
            </a:r>
            <a:r>
              <a:rPr lang="pt-BR" dirty="0">
                <a:solidFill>
                  <a:srgbClr val="C00000"/>
                </a:solidFill>
              </a:rPr>
              <a:t>exemplos</a:t>
            </a:r>
            <a:r>
              <a:rPr lang="pt-BR" dirty="0"/>
              <a:t> de requisitos funcionais: efetuar compras, adicionar dados em formulários, criar relatórios de atividades, realizar pesquisas, consultar dados de clientes, solicitar atendimento e deletar, alterar ou inserir informações. </a:t>
            </a:r>
          </a:p>
          <a:p>
            <a:pPr marL="0" indent="0">
              <a:buNone/>
            </a:pPr>
            <a:r>
              <a:rPr lang="pt-BR" dirty="0"/>
              <a:t>     Além disso, eles são essenciais para garantir que um sistema atenda às necessidades dos usuários e cumpra as funções esperadas. Esses requisitos também podem ser chamados de </a:t>
            </a:r>
            <a:r>
              <a:rPr lang="pt-BR" dirty="0">
                <a:solidFill>
                  <a:srgbClr val="C00000"/>
                </a:solidFill>
              </a:rPr>
              <a:t>conjunto de funções do sistema.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91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não funcionais – </a:t>
            </a:r>
            <a:r>
              <a:rPr lang="pt-BR" b="1" dirty="0">
                <a:solidFill>
                  <a:srgbClr val="C00000"/>
                </a:solidFill>
              </a:rPr>
              <a:t>O que são?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Requisitos Não Funcionais </a:t>
            </a:r>
            <a:r>
              <a:rPr lang="pt-BR" sz="3000" b="1" dirty="0"/>
              <a:t>são aqueles relativos ao sistema, desempenho, segurança e à disponibilidade, além de outros não ligados às funcionalidades do sistema diretamente.</a:t>
            </a:r>
            <a:r>
              <a:rPr lang="pt-BR" sz="3000" b="1" dirty="0">
                <a:solidFill>
                  <a:srgbClr val="FF0000"/>
                </a:solidFill>
              </a:rPr>
              <a:t> Por exemplo: </a:t>
            </a:r>
            <a:r>
              <a:rPr lang="pt-BR" sz="3000" dirty="0"/>
              <a:t>Os clientes deverão ser autenticados por senha no sistema; O sistema deverá funcionar em ambiente web.                                                                  Da mesma forma que os funcionais, eles </a:t>
            </a:r>
            <a:r>
              <a:rPr lang="pt-BR" sz="3000" b="1" dirty="0"/>
              <a:t>devem ser identificados e numerados no momento de seu levantamento.</a:t>
            </a:r>
          </a:p>
        </p:txBody>
      </p:sp>
    </p:spTree>
    <p:extLst>
      <p:ext uri="{BB962C8B-B14F-4D97-AF65-F5344CB8AC3E}">
        <p14:creationId xmlns:p14="http://schemas.microsoft.com/office/powerpoint/2010/main" val="125892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8583"/>
            <a:ext cx="10515600" cy="4619830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/>
              <a:t>Etapa de desenvolvimento de software: </a:t>
            </a:r>
            <a:br>
              <a:rPr lang="pt-BR" sz="5400" b="1" dirty="0"/>
            </a:br>
            <a:r>
              <a:rPr lang="pt-BR" sz="5400" b="1" dirty="0">
                <a:solidFill>
                  <a:srgbClr val="C00000"/>
                </a:solidFill>
              </a:rPr>
              <a:t>Fase de Levantamento de Requisitos</a:t>
            </a:r>
            <a:br>
              <a:rPr lang="pt-BR" sz="5400" b="1" dirty="0">
                <a:solidFill>
                  <a:srgbClr val="C00000"/>
                </a:solidFill>
              </a:rPr>
            </a:br>
            <a:br>
              <a:rPr lang="pt-BR" sz="5400" b="1" dirty="0">
                <a:solidFill>
                  <a:srgbClr val="C00000"/>
                </a:solidFill>
              </a:rPr>
            </a:br>
            <a:r>
              <a:rPr lang="pt-BR" sz="5400" b="1" dirty="0">
                <a:solidFill>
                  <a:schemeClr val="bg1"/>
                </a:solidFill>
                <a:highlight>
                  <a:srgbClr val="800000"/>
                </a:highlight>
              </a:rPr>
              <a:t>Ataque Cibernético</a:t>
            </a:r>
          </a:p>
        </p:txBody>
      </p:sp>
    </p:spTree>
    <p:extLst>
      <p:ext uri="{BB962C8B-B14F-4D97-AF65-F5344CB8AC3E}">
        <p14:creationId xmlns:p14="http://schemas.microsoft.com/office/powerpoint/2010/main" val="33982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6CB1C-A23E-4CE4-8A1D-EF741A3C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do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D7FD6D-CF14-4D53-9762-8599CEAA9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Uma empresa está sofrendo ataques cibernéticos, causados por hackers que, por conta da pouca segurança de dados, conseguem se infiltrar na rede da empresa e alterar informações importantes, como: registro de funcionários, tabela de pagamento e documentos privados.</a:t>
            </a:r>
          </a:p>
          <a:p>
            <a:pPr marL="0" indent="0">
              <a:buNone/>
            </a:pPr>
            <a:r>
              <a:rPr lang="pt-BR" dirty="0"/>
              <a:t>	O dono da empresa nos solicitou um sistema que ofereça segurança, monitoramento geral dos dados, confidencialidade virtual, que seja de fácil manuseio e que garanta a privacidade de dados privados somente para pessoas autorizadas.</a:t>
            </a:r>
          </a:p>
        </p:txBody>
      </p:sp>
    </p:spTree>
    <p:extLst>
      <p:ext uri="{BB962C8B-B14F-4D97-AF65-F5344CB8AC3E}">
        <p14:creationId xmlns:p14="http://schemas.microsoft.com/office/powerpoint/2010/main" val="71239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funcionais do seu projeto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71E1D-0F2D-382B-1566-9D4D2EA8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768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EE981-9835-6ED6-DBD4-85C9B63F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Requisitos não funcionais do seu projeto</a:t>
            </a:r>
            <a:endParaRPr lang="pt-BR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4B31728-0879-4593-9291-2C289F9B5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891951"/>
              </p:ext>
            </p:extLst>
          </p:nvPr>
        </p:nvGraphicFramePr>
        <p:xfrm>
          <a:off x="946672" y="1963754"/>
          <a:ext cx="10246658" cy="53218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415553">
                  <a:extLst>
                    <a:ext uri="{9D8B030D-6E8A-4147-A177-3AD203B41FA5}">
                      <a16:colId xmlns:a16="http://schemas.microsoft.com/office/drawing/2014/main" val="1474618506"/>
                    </a:ext>
                  </a:extLst>
                </a:gridCol>
                <a:gridCol w="3177950">
                  <a:extLst>
                    <a:ext uri="{9D8B030D-6E8A-4147-A177-3AD203B41FA5}">
                      <a16:colId xmlns:a16="http://schemas.microsoft.com/office/drawing/2014/main" val="2445972596"/>
                    </a:ext>
                  </a:extLst>
                </a:gridCol>
                <a:gridCol w="3653155">
                  <a:extLst>
                    <a:ext uri="{9D8B030D-6E8A-4147-A177-3AD203B41FA5}">
                      <a16:colId xmlns:a16="http://schemas.microsoft.com/office/drawing/2014/main" val="3663590303"/>
                    </a:ext>
                  </a:extLst>
                </a:gridCol>
              </a:tblGrid>
              <a:tr h="5321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     NF-S4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  Controle de acesso baseado em papéis (RBAC)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Usuários só podem acessar recursos de acordo com sua função, com revisões mensais de permissões.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982515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5AB7160-15CF-488F-87B6-D748F43FA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583826"/>
              </p:ext>
            </p:extLst>
          </p:nvPr>
        </p:nvGraphicFramePr>
        <p:xfrm>
          <a:off x="946672" y="2405420"/>
          <a:ext cx="10246659" cy="581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5553">
                  <a:extLst>
                    <a:ext uri="{9D8B030D-6E8A-4147-A177-3AD203B41FA5}">
                      <a16:colId xmlns:a16="http://schemas.microsoft.com/office/drawing/2014/main" val="614902860"/>
                    </a:ext>
                  </a:extLst>
                </a:gridCol>
                <a:gridCol w="3178886">
                  <a:extLst>
                    <a:ext uri="{9D8B030D-6E8A-4147-A177-3AD203B41FA5}">
                      <a16:colId xmlns:a16="http://schemas.microsoft.com/office/drawing/2014/main" val="274593373"/>
                    </a:ext>
                  </a:extLst>
                </a:gridCol>
                <a:gridCol w="3652220">
                  <a:extLst>
                    <a:ext uri="{9D8B030D-6E8A-4147-A177-3AD203B41FA5}">
                      <a16:colId xmlns:a16="http://schemas.microsoft.com/office/drawing/2014/main" val="2136356214"/>
                    </a:ext>
                  </a:extLst>
                </a:gridCol>
              </a:tblGrid>
              <a:tr h="5321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     NF-S1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Autenticação multifator (MFA) obrigatória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Todos os usuários com acesso a sistemas críticos devem utilizar MFA (ex: senha + app autenticador).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5908614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F115BDC-1967-44DD-9E06-01AA2ACAE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30531"/>
              </p:ext>
            </p:extLst>
          </p:nvPr>
        </p:nvGraphicFramePr>
        <p:xfrm>
          <a:off x="946672" y="2896814"/>
          <a:ext cx="10246659" cy="5321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5553">
                  <a:extLst>
                    <a:ext uri="{9D8B030D-6E8A-4147-A177-3AD203B41FA5}">
                      <a16:colId xmlns:a16="http://schemas.microsoft.com/office/drawing/2014/main" val="587407221"/>
                    </a:ext>
                  </a:extLst>
                </a:gridCol>
                <a:gridCol w="3178886">
                  <a:extLst>
                    <a:ext uri="{9D8B030D-6E8A-4147-A177-3AD203B41FA5}">
                      <a16:colId xmlns:a16="http://schemas.microsoft.com/office/drawing/2014/main" val="3313417981"/>
                    </a:ext>
                  </a:extLst>
                </a:gridCol>
                <a:gridCol w="3652220">
                  <a:extLst>
                    <a:ext uri="{9D8B030D-6E8A-4147-A177-3AD203B41FA5}">
                      <a16:colId xmlns:a16="http://schemas.microsoft.com/office/drawing/2014/main" val="2127373000"/>
                    </a:ext>
                  </a:extLst>
                </a:gridCol>
              </a:tblGrid>
              <a:tr h="5321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     NF-D2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Redundância geográfica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Os dados críticos devem ser replicados em pelo menos duas regiões distintas.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52074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422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390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Bell MT</vt:lpstr>
      <vt:lpstr>Calibri</vt:lpstr>
      <vt:lpstr>Times New Roman</vt:lpstr>
      <vt:lpstr>Tema do Office</vt:lpstr>
      <vt:lpstr>Análise e Projeto de Sistemas</vt:lpstr>
      <vt:lpstr>Requisitos funcionais – O que são? </vt:lpstr>
      <vt:lpstr>Requisitos não funcionais – O que são? </vt:lpstr>
      <vt:lpstr>Etapa de desenvolvimento de software:  Fase de Levantamento de Requisitos  Ataque Cibernético</vt:lpstr>
      <vt:lpstr>Análise do problema</vt:lpstr>
      <vt:lpstr>Requisitos funcionais do seu projeto</vt:lpstr>
      <vt:lpstr>Requisitos não funcionais do seu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</dc:title>
  <dc:creator>Andrea Avezum Martus</dc:creator>
  <cp:lastModifiedBy>Micro</cp:lastModifiedBy>
  <cp:revision>17</cp:revision>
  <dcterms:created xsi:type="dcterms:W3CDTF">2025-03-26T22:54:18Z</dcterms:created>
  <dcterms:modified xsi:type="dcterms:W3CDTF">2025-06-02T16:26:07Z</dcterms:modified>
</cp:coreProperties>
</file>